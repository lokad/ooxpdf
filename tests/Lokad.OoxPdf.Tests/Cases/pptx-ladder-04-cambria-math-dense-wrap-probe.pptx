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CC32-DBC3-7CB3-6DBC-4FC2D4CC7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46A22-8CCA-1641-428D-54F29F52B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FFC7D-DB08-9988-0FB4-F671ACAA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D3A2C-DCE6-B0FF-4601-65F8D30E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EAB8-8391-05F8-390C-27F34111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2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BB56-59F9-B5ED-68F1-5C20CE98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BCD69-69E5-EEE4-D85E-1946391C8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4913B-2F18-097D-8D54-5ED887E9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2B975-2F3D-77BD-D0DB-3172FAC3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71D3F-168E-D3A6-9329-27AFE77B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8536-D217-BC5B-4B10-7082E6B6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0FF3A-CB26-F089-CAE5-962A1BA30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DCE0F-CD63-11B0-12CB-147E5641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2FC67-91F9-A9DF-E447-9A50E847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9E0B4-D5AF-4AD3-D1EE-3C61B39A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C89-66AF-C2E3-93BF-75A878EE1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BBFEE-A416-3011-F43D-B4EE95D14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54D98-1287-4EF1-8757-59BCA386A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D341A-F6DB-C8EF-5000-3FEA5F6A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6155A-C8CA-D98C-71F3-E9D3BC35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01AC4-354E-2EBA-DB39-01DB946A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1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18145-B2A0-2B5F-B679-07F1CCBA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514F3-08FE-3F1F-C7F6-79656FE45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8D0BC-2C73-CE3A-F3D2-9A85DE457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E81D4-9633-F538-4785-08916DF03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AD9A1-A05F-667D-2A94-097C0D5CE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B56DF-E7FD-9854-5859-5297ADF4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9F0D3-FAEF-A20F-4DC0-0331D3A7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3EF32-DD43-2914-9055-4075FB0E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9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36EE-7DED-18CD-941A-6FFAD938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23FAA-51E5-A175-4ACC-08FEE8DA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2B468-FDF7-DBC6-996D-B8894FE3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410F5-22FD-2BC9-42FF-79798C3B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5D56F-F3FA-9A8D-E04A-65724624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F61A5-B71C-A393-65F8-9041146B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97FB3-D3C4-BF27-330C-4065CA7E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6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DF8C-BD4D-E5BD-0758-F8FD7849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1792-A287-B36C-651B-95263527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94A53-42F6-094C-6866-6EE7EBC5A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86E4-BF9C-1F26-BE3C-3D9AC519B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853BA-319C-158E-61C9-70F01A65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CCBA4-7A74-78EE-0C02-422B9516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2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0531-3A41-38D8-71DC-C744CA5D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3433B0-80CF-C535-CAA2-3E36E117C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4CDA5-9C61-CE69-C4ED-AF77006C8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CF547-B9BD-A600-8BCC-4731FB52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E32F2-2FED-298F-9A62-3BB600AB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2D8FC-06D0-39E1-06EA-D83ADBA4B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F3B4-2C1A-AB07-FB88-5EDC68A5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0882D-B722-54E9-8C6E-8D39D5EDA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D40FE-ADDD-16BE-5918-B413ABA60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7221-16A8-44A2-62B1-39DF2B0E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7D6D-BD85-47E0-31DB-49EE27A27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9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68E43-2556-B8A2-5164-5EE90C5FF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048A9-4B07-518F-D6E7-361739B21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65241-23D3-BF2A-167A-734C0F27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5142-AE68-F487-D182-52C8DD87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A55C8-3774-7C99-458C-7F25D540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1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B65D1-7056-F1AA-4BE7-395FED0C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4C9E0-0BF8-74F0-74C3-FC437C1D5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E84E-3347-0BBA-E3A2-4E065FB9E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6631F-C5D1-4F53-AE74-C1447B68FF1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AAE3A-1CEB-7752-7442-CB264826C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B0DB9-E86D-9076-A0C0-E75ADD81A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6F9FB-0D8D-48EE-B245-8E8F7BB25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5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3878DB-8B0E-25C9-EBF1-415A4523E00E}"/>
              </a:ext>
            </a:extLst>
          </p:cNvPr>
          <p:cNvSpPr txBox="1"/>
          <p:nvPr/>
        </p:nvSpPr>
        <p:spPr>
          <a:xfrm>
            <a:off x="457200" y="914400"/>
            <a:ext cx="5080000" cy="1508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Cambria Math" panose="02040503050406030204" pitchFamily="18" charset="0"/>
              </a:rPr>
              <a:t>A compact bold heading founded in 2008 and based in Paris, France.</a:t>
            </a:r>
          </a:p>
          <a:p>
            <a:r>
              <a:rPr lang="en-US" sz="1200">
                <a:solidFill>
                  <a:srgbClr val="000000"/>
                </a:solidFill>
                <a:latin typeface="Cambria Math" panose="02040503050406030204" pitchFamily="18" charset="0"/>
              </a:rPr>
              <a:t>Dense Cambria Math body text should wrap like Office when a </a:t>
            </a:r>
            <a:r>
              <a:rPr lang="en-US" sz="1200" b="1">
                <a:solidFill>
                  <a:srgbClr val="000000"/>
                </a:solidFill>
                <a:latin typeface="Cambria Math" panose="02040503050406030204" pitchFamily="18" charset="0"/>
              </a:rPr>
              <a:t>bold phrase</a:t>
            </a:r>
            <a:r>
              <a:rPr lang="en-US" sz="1200">
                <a:solidFill>
                  <a:srgbClr val="000000"/>
                </a:solidFill>
                <a:latin typeface="Cambria Math" panose="02040503050406030204" pitchFamily="18" charset="0"/>
              </a:rPr>
              <a:t> is embedded in the paragraph and the frame is narrow enough to expose width errors. </a:t>
            </a:r>
          </a:p>
          <a:p>
            <a:endParaRPr lang="en-US" sz="120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r>
              <a:rPr lang="en-US" sz="1200">
                <a:solidFill>
                  <a:srgbClr val="000000"/>
                </a:solidFill>
                <a:latin typeface="Cambria Math" panose="02040503050406030204" pitchFamily="18" charset="0"/>
              </a:rPr>
              <a:t>Another dense paragraph keeps line stacking stable before the lower drawing area starts. We need the final baseline to stay above the guide line.</a:t>
            </a:r>
          </a:p>
          <a:p>
            <a:r>
              <a:rPr lang="en-US" sz="1200">
                <a:solidFill>
                  <a:srgbClr val="000000"/>
                </a:solidFill>
                <a:latin typeface="Cambria Math" panose="02040503050406030204" pitchFamily="18" charset="0"/>
              </a:rPr>
              <a:t>We engage in </a:t>
            </a:r>
            <a:r>
              <a:rPr lang="en-US" sz="1200" b="1">
                <a:solidFill>
                  <a:srgbClr val="000000"/>
                </a:solidFill>
                <a:latin typeface="Cambria Math" panose="02040503050406030204" pitchFamily="18" charset="0"/>
              </a:rPr>
              <a:t>long-term partnerships</a:t>
            </a:r>
            <a:r>
              <a:rPr lang="en-US" sz="1200">
                <a:solidFill>
                  <a:srgbClr val="000000"/>
                </a:solidFill>
                <a:latin typeface="Cambria Math" panose="02040503050406030204" pitchFamily="18" charset="0"/>
              </a:rPr>
              <a:t> with clients, and deliver daily decisions.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D8AEF0-6BFB-1D7F-E37E-F87929029104}"/>
              </a:ext>
            </a:extLst>
          </p:cNvPr>
          <p:cNvCxnSpPr/>
          <p:nvPr/>
        </p:nvCxnSpPr>
        <p:spPr>
          <a:xfrm>
            <a:off x="457200" y="4318000"/>
            <a:ext cx="5080000" cy="0"/>
          </a:xfrm>
          <a:prstGeom prst="line">
            <a:avLst/>
          </a:prstGeom>
          <a:ln w="1270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38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2026-05-23T22:32:58Z</dcterms:created>
  <dcterms:modified xsi:type="dcterms:W3CDTF">2026-05-23T22:32:58Z</dcterms:modified>
</cp:coreProperties>
</file>