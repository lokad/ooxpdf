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ldcambria-2"/>
          <p:cNvSpPr txBox="1"/>
          <p:nvPr/>
        </p:nvSpPr>
        <p:spPr>
          <a:xfrm>
            <a:off x="6096000" y="914400"/>
            <a:ext cx="47752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Cambria Math"/>
              </a:rPr>
              <a:t>Operations expect the plan it doesn’t use.</a:t>
            </a:r>
            <a:endParaRPr lang="en-US" sz="1600">
              <a:latin typeface="Cambria Math"/>
            </a:endParaRPr>
          </a:p>
        </p:txBody>
      </p:sp>
      <p:sp>
        <p:nvSpPr>
          <p:cNvPr id="3" name="boldcambria-3"/>
          <p:cNvSpPr txBox="1"/>
          <p:nvPr/>
        </p:nvSpPr>
        <p:spPr>
          <a:xfrm>
            <a:off x="6096000" y="1371600"/>
            <a:ext cx="47752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600">
                <a:solidFill>
                  <a:srgbClr val="222222"/>
                </a:solidFill>
                <a:latin typeface="Cambria Math"/>
              </a:rPr>
              <a:t>Operations expect the plan it doesn’t use.</a:t>
            </a:r>
            <a:endParaRPr lang="en-US" sz="1600">
              <a:latin typeface="Cambria Math"/>
            </a:endParaRPr>
          </a:p>
        </p:txBody>
      </p:sp>
      <p:sp>
        <p:nvSpPr>
          <p:cNvPr id="4" name="boldcambria-4"/>
          <p:cNvSpPr txBox="1"/>
          <p:nvPr/>
        </p:nvSpPr>
        <p:spPr>
          <a:xfrm>
            <a:off x="6096000" y="1828800"/>
            <a:ext cx="47752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Cambria Math"/>
              </a:rPr>
              <a:t>Planning controls the task it doesn’t need.</a:t>
            </a:r>
            <a:endParaRPr lang="en-US" sz="1600">
              <a:latin typeface="Cambria Math"/>
            </a:endParaRPr>
          </a:p>
        </p:txBody>
      </p:sp>
      <p:sp>
        <p:nvSpPr>
          <p:cNvPr id="5" name="boldcambria-5"/>
          <p:cNvSpPr txBox="1"/>
          <p:nvPr/>
        </p:nvSpPr>
        <p:spPr>
          <a:xfrm>
            <a:off x="6096000" y="2286000"/>
            <a:ext cx="47752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Cambria Math"/>
              </a:rPr>
              <a:t>Managers adjust the work it doesn’t need.</a:t>
            </a:r>
            <a:endParaRPr lang="en-US" sz="1600">
              <a:latin typeface="Cambria Math"/>
            </a:endParaRPr>
          </a:p>
        </p:txBody>
      </p:sp>
      <p:sp>
        <p:nvSpPr>
          <p:cNvPr id="6" name="boldcambria-6"/>
          <p:cNvSpPr txBox="1"/>
          <p:nvPr/>
        </p:nvSpPr>
        <p:spPr>
          <a:xfrm>
            <a:off x="6096000" y="2743200"/>
            <a:ext cx="47752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Cambria Math"/>
              </a:rPr>
              <a:t>Demand shapes the model it doesn’t use.</a:t>
            </a:r>
            <a:endParaRPr lang="en-US" sz="1600">
              <a:latin typeface="Cambria Math"/>
            </a:endParaRPr>
          </a:p>
        </p:txBody>
      </p:sp>
      <p:sp>
        <p:nvSpPr>
          <p:cNvPr id="7" name="boldcambria-7"/>
          <p:cNvSpPr txBox="1"/>
          <p:nvPr/>
        </p:nvSpPr>
        <p:spPr>
          <a:xfrm>
            <a:off x="6096000" y="3200400"/>
            <a:ext cx="47752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Cambria Math"/>
              </a:rPr>
              <a:t>Quality choices need clear plans and execution today.</a:t>
            </a:r>
            <a:endParaRPr lang="en-US" sz="1600">
              <a:latin typeface="Cambria Math"/>
            </a:endParaRPr>
          </a:p>
        </p:txBody>
      </p:sp>
      <p:sp>
        <p:nvSpPr>
          <p:cNvPr id="8" name="boldcambria-8"/>
          <p:cNvSpPr txBox="1"/>
          <p:nvPr/>
        </p:nvSpPr>
        <p:spPr>
          <a:xfrm>
            <a:off x="1950720" y="3657600"/>
            <a:ext cx="254508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200" b="1">
                <a:solidFill>
                  <a:srgbClr val="222222"/>
                </a:solidFill>
                <a:latin typeface="Cambria Math"/>
              </a:rPr>
              <a:t>Operations expect the plan it doesn’t use.</a:t>
            </a:r>
            <a:endParaRPr lang="en-US" sz="1200">
              <a:latin typeface="Cambria Math"/>
            </a:endParaRPr>
          </a:p>
        </p:txBody>
      </p:sp>
      <p:sp>
        <p:nvSpPr>
          <p:cNvPr id="9" name="boldcambria-9"/>
          <p:cNvSpPr txBox="1"/>
          <p:nvPr/>
        </p:nvSpPr>
        <p:spPr>
          <a:xfrm>
            <a:off x="1950720" y="4114800"/>
            <a:ext cx="254508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en-US" sz="1200">
                <a:solidFill>
                  <a:srgbClr val="222222"/>
                </a:solidFill>
                <a:latin typeface="Cambria Math"/>
              </a:rPr>
              <a:t>Operations expect the plan it doesn’t use.</a:t>
            </a:r>
            <a:endParaRPr lang="en-US" sz="1200">
              <a:latin typeface="Cambria Mat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