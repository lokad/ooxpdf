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centered-trailing-space-alignment"/>
          <p:cNvSpPr txBox="1"/>
          <p:nvPr/>
        </p:nvSpPr>
        <p:spPr>
          <a:xfrm>
            <a:off x="914400" y="1828800"/>
            <a:ext cx="4775200" cy="18288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wrap="square" vertOverflow="overflow" anchor="t"/>
          <a:lstStyle/>
          <a:p>
            <a:pPr algn="ctr"/>
            <a:r>
              <a:rPr sz="1600" kern="1200">
                <a:solidFill>
                  <a:srgbClr val="222222"/>
                </a:solidFill>
                <a:latin typeface="Cambria Math"/>
              </a:rPr>
              <a:t>Quality decisions depend on careful operational planning.</a:t>
            </a:r>
          </a:p>
          <a:p>
            <a:pPr algn="ctr"/>
            <a:r>
              <a:rPr sz="1000" kern="1200">
                <a:solidFill>
                  <a:srgbClr val="222222"/>
                </a:solidFill>
                <a:latin typeface="Cambria Math"/>
              </a:rPr>
              <a:t>To Va Ta AV planning quality</a:t>
            </a:r>
          </a:p>
          <a:p>
            <a:pPr algn="l"/>
            <a:r>
              <a:rPr sz="1600" kern="1200">
                <a:solidFill>
                  <a:srgbClr val="222222"/>
                </a:solidFill>
                <a:latin typeface="Cambria Math"/>
              </a:rPr>
              <a:t>Quality decisions depend on careful operational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