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section-baseline-probe"/>
          <p:cNvSpPr txBox="1"/>
          <p:nvPr/>
        </p:nvSpPr>
        <p:spPr>
          <a:xfrm>
            <a:off x="893859" y="953070"/>
            <a:ext cx="10404281" cy="4951859"/>
          </a:xfrm>
          <a:prstGeom prst="rect">
            <a:avLst/>
          </a:prstGeom>
          <a:noFill/>
          <a:ln>
            <a:noFill/>
          </a:ln>
        </p:spPr>
        <p:txBody>
          <a:bodyPr lIns="91440" rIns="45720" tIns="91440" bIns="45720" wrap="square" anchor="t"/>
          <a:lstStyle/>
          <a:p>
            <a:pPr algn="ctr">
              <a:lnSpc>
                <a:spcPct val="90000"/>
              </a:lnSpc>
            </a:pPr>
            <a:r>
              <a:rPr sz="6600" b="1">
                <a:latin typeface="Cambria Math"/>
              </a:rPr>
              <a:t>Office PDF</a:t>
            </a:r>
          </a:p>
          <a:p>
            <a:pPr algn="ctr">
              <a:lnSpc>
                <a:spcPct val="90000"/>
              </a:lnSpc>
            </a:pPr>
            <a:r>
              <a:rPr sz="6600" b="1">
                <a:latin typeface="Cambria Math"/>
              </a:rPr>
              <a:t>Baseline Probe</a:t>
            </a:r>
          </a:p>
          <a:p>
            <a:endParaRPr sz="3600">
              <a:latin typeface="Cambria Math"/>
            </a:endParaRPr>
          </a:p>
          <a:p>
            <a:pPr algn="l">
              <a:lnSpc>
                <a:spcPct val="90000"/>
              </a:lnSpc>
            </a:pPr>
            <a:r>
              <a:rPr sz="3600">
                <a:latin typeface="Cambria Math"/>
              </a:rPr>
              <a:t>Large text boxes reveal first-baseline placement.</a:t>
            </a:r>
          </a:p>
          <a:p>
            <a:pPr algn="l" marL="571500" indent="-228600">
              <a:lnSpc>
                <a:spcPct val="90000"/>
              </a:lnSpc>
              <a:buFont typeface="Arial"/>
              <a:buChar char="•"/>
            </a:pPr>
            <a:r>
              <a:rPr sz="2400">
                <a:latin typeface="Cambria Math"/>
              </a:rPr>
              <a:t>Public synthetic text avoids private document content.</a:t>
            </a:r>
          </a:p>
          <a:p>
            <a:pPr algn="l" marL="571500" indent="-228600">
              <a:lnSpc>
                <a:spcPct val="90000"/>
              </a:lnSpc>
              <a:buFont typeface="Arial"/>
              <a:buChar char="•"/>
            </a:pPr>
            <a:r>
              <a:rPr sz="2400">
                <a:latin typeface="Cambria Math"/>
              </a:rPr>
              <a:t>Multiple font sizes expose whether baseline offsets scale linearly.</a:t>
            </a:r>
          </a:p>
          <a:p>
            <a:pPr algn="l" marL="571500" indent="-228600">
              <a:lnSpc>
                <a:spcPct val="90000"/>
              </a:lnSpc>
              <a:buFont typeface="Arial"/>
              <a:buChar char="•"/>
            </a:pPr>
            <a:r>
              <a:rPr sz="2400">
                <a:latin typeface="Cambria Math"/>
              </a:rPr>
              <a:t>Top anchored rectangular frames should match Office text matrices.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