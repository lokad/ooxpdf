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1CA31-02B5-EB4B-2A30-E7794C097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621A27-3369-AFEB-446C-F1D3FFDA2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48008-685B-F484-E25D-6013D798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82E26-5B72-1FAF-9E4B-8BAAF36D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B4141-7A95-0C19-A6E5-FE7810559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58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E6649-396C-C1D5-D1BB-2D61753EF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34D6D-0531-3F60-AB4D-62E915349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D4F08-9EE3-2D4C-A1B6-485C25531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1CA09-4445-8052-A0D1-425A49A62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9B9EE-E237-0CE6-CEF4-0DCB0997B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5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8D34E-C289-884A-3D8E-BB1A664A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8E8A8-81EC-D17D-5092-F1844FAE3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2227C-9855-D573-165A-114D26A7E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E88C6-DAF8-F104-66A8-BD687B599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097EF-DC00-1738-87DA-9228C8F8B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91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EE60B-5201-3558-EB8B-DBEB2BE28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5A2E0-2DA3-9A18-FB6A-A1C843A76A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49249-1A3C-D790-D5C5-8C275CF6D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AFF64-BE8A-F7D0-BE30-72A708FFE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8A9C7-4B38-A2D6-518F-0491A32F7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4DD1D-C673-FFEA-6BF0-F7D8BD0AB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055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F856-31CD-96C2-4946-84CA81BC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35532-73F8-6971-2763-3053425E0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E8E134-F0F5-10DA-FC60-E4DF332B3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522F9F-918D-CBA5-0D50-BF76BF12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2C7DD-5E94-457D-DA34-2889CEA73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48C0FE-51E2-2E26-3D20-0B2462CD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442871-8289-A65A-C952-0CE236784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DF90A2-7F03-433E-C0D4-C9443EAD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7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BF73-78E9-5E29-F7EE-67E458B15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5C2F98-56BB-B3BA-05E6-BE437AB14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CFA314-9032-5547-FD7A-39434D71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30143A-FA84-726F-3413-F80863FEE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66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8A2615-6BFA-0916-BB8B-C86C64772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BB9E31-7A0D-6052-7F68-64D9F6B40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307CE-87AC-99E7-830B-5E0CFD03F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62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AF353-FEE9-B9D3-C610-CC8C38EB2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63C83-BA49-B418-5EDC-AC52C88C9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22FF6-8828-E64B-77ED-40B40E8C0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C7230-9384-B04B-FA72-25A384EB7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A81F8-2B26-9F8D-654A-67071068D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7E072-3458-3DE5-FA03-95A98DCD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89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CF015-FCFF-989D-7EDB-241528165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422486-D7D0-C8FF-D62F-C6305B4A4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711403-3443-7D81-99AE-C45E02B6E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20650-FC62-9CDA-149E-30B1E3936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CA541-95FA-C826-7E2F-E841C8969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A122E-8E21-BD5F-A96B-A4C323802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30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4CA2F-BDDD-0C06-F678-8CDD87F63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34A676-F58D-6C8D-22C2-762A270C0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B7F0D-D49B-1A2B-E7BA-7D597FF1A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EBCA5-D0D9-BAB3-098D-53C5C114B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832D9-3929-D9DD-11C4-492875F7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34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9D15B-9A7E-6E67-864E-93BD0A658E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44C48-8EB6-EE7E-C0DF-958B7853A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74750-1CE5-6125-490E-0E75AEEE5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7CE41-C6ED-B1A4-EA9E-869A0AAB0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53C69-265F-FFD3-4BB1-35E36E0F1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05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0C613F-6E4B-6082-FB9E-6F54867A8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43B6F-A216-D833-66A2-8FA41B803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1FCD8-94A0-96B8-5E36-E8713BBA28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932611-D5DE-4C1F-905C-CEEB27A30CB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2412F-4342-B221-91D9-4CEB5662F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FEB1A-E9EE-3814-5D88-4586E47A07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900A33-AEF9-4B45-8154-D7594C8A2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03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2097BC-AFE8-DE98-7462-4FA95215D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069957"/>
              </p:ext>
            </p:extLst>
          </p:nvPr>
        </p:nvGraphicFramePr>
        <p:xfrm>
          <a:off x="836549" y="1436370"/>
          <a:ext cx="10515473" cy="3179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1603">
                  <a:extLst>
                    <a:ext uri="{9D8B030D-6E8A-4147-A177-3AD203B41FA5}">
                      <a16:colId xmlns:a16="http://schemas.microsoft.com/office/drawing/2014/main" val="1275475520"/>
                    </a:ext>
                  </a:extLst>
                </a:gridCol>
                <a:gridCol w="1434563">
                  <a:extLst>
                    <a:ext uri="{9D8B030D-6E8A-4147-A177-3AD203B41FA5}">
                      <a16:colId xmlns:a16="http://schemas.microsoft.com/office/drawing/2014/main" val="3004775237"/>
                    </a:ext>
                  </a:extLst>
                </a:gridCol>
                <a:gridCol w="1330859">
                  <a:extLst>
                    <a:ext uri="{9D8B030D-6E8A-4147-A177-3AD203B41FA5}">
                      <a16:colId xmlns:a16="http://schemas.microsoft.com/office/drawing/2014/main" val="3800693349"/>
                    </a:ext>
                  </a:extLst>
                </a:gridCol>
                <a:gridCol w="3775295">
                  <a:extLst>
                    <a:ext uri="{9D8B030D-6E8A-4147-A177-3AD203B41FA5}">
                      <a16:colId xmlns:a16="http://schemas.microsoft.com/office/drawing/2014/main" val="4184081501"/>
                    </a:ext>
                  </a:extLst>
                </a:gridCol>
                <a:gridCol w="2733280">
                  <a:extLst>
                    <a:ext uri="{9D8B030D-6E8A-4147-A177-3AD203B41FA5}">
                      <a16:colId xmlns:a16="http://schemas.microsoft.com/office/drawing/2014/main" val="1266357740"/>
                    </a:ext>
                  </a:extLst>
                </a:gridCol>
              </a:tblGrid>
              <a:tr h="17766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R01C01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R01C02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R01C03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R01C04 replenishment policy keeps enough neutral planning words to wrap inside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R01C05 service target and lead time note wraps across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759133"/>
                  </a:ext>
                </a:extLst>
              </a:tr>
              <a:tr h="12436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R02C01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R02C02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R02C03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R02C04 replenishment policy keeps enough neutral planning words to wrap inside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R02C05 service target and lead time note wraps across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267337"/>
                  </a:ext>
                </a:extLst>
              </a:tr>
              <a:tr h="17766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R03C01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R03C02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R03C03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R03C04 replenishment policy keeps enough neutral planning words to wrap inside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R03C05 service target and lead time note wraps across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509654"/>
                  </a:ext>
                </a:extLst>
              </a:tr>
              <a:tr h="284270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R04C01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R04C02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R04C03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R04C04 replenishment policy keeps enough neutral planning words to wrap inside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R04C05 service target and lead time note wraps across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047064"/>
                  </a:ext>
                </a:extLst>
              </a:tr>
              <a:tr h="12436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R05C01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R05C02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R05C03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R05C04 replenishment policy keeps enough neutral planning words to wrap inside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R05C05 service target and lead time note wraps across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061374"/>
                  </a:ext>
                </a:extLst>
              </a:tr>
              <a:tr h="17766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R06C01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R06C02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R06C03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R06C04 replenishment policy keeps enough neutral planning words to wrap inside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R06C05 service target and lead time note wraps across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865888"/>
                  </a:ext>
                </a:extLst>
              </a:tr>
              <a:tr h="17766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R07C01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R07C02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R07C03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R07C04 replenishment policy keeps enough neutral planning words to wrap inside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R07C05 service target and lead time note wraps across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369728"/>
                  </a:ext>
                </a:extLst>
              </a:tr>
              <a:tr h="230969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R08C01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R08C02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R08C03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R08C04 replenishment policy keeps enough neutral planning words to wrap inside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R08C05 service target and lead time note wraps across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47233"/>
                  </a:ext>
                </a:extLst>
              </a:tr>
              <a:tr h="17766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R09C01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R09C02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R09C03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R09C04 replenishment policy keeps enough neutral planning words to wrap inside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R09C05 service target and lead time note wraps across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55897"/>
                  </a:ext>
                </a:extLst>
              </a:tr>
              <a:tr h="177668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R10C01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R10C02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R10C03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R10C04 replenishment policy keeps enough neutral planning words to wrap inside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R10C05 service target and lead time note wraps across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920692"/>
                  </a:ext>
                </a:extLst>
              </a:tr>
              <a:tr h="230969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R11C01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R11C02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R11C03 compact planning text wraps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R11C04 replenishment policy keeps enough neutral planning words to wrap inside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latin typeface="Aptos" panose="020B0004020202020204" pitchFamily="34" charset="0"/>
                        </a:rPr>
                        <a:t>R11C05 service target and lead time note wraps across the cell</a:t>
                      </a:r>
                    </a:p>
                  </a:txBody>
                  <a:tcPr marL="37512" marR="37512" marT="18756" marB="18756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890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3757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</Words>
  <Application>Microsoft Office PowerPoint</Application>
  <PresentationFormat>Widescreen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2026-05-30T07:32:21Z</dcterms:created>
  <dcterms:modified xsi:type="dcterms:W3CDTF">2026-05-30T07:32:21Z</dcterms:modified>
</cp:coreProperties>
</file>