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068A-6DEE-09E8-4190-E0D9D2FCD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643C0-0064-7447-7756-C846FC387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E6496-C0E7-38F1-8C1B-4D8F1229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8939-9E75-7F3D-87F2-E858E0A6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1A084-9213-6051-1A71-65DE7A06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4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AA71-C801-FB32-00CC-BFE4A52B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CEA6-DAE2-A358-982B-0139E6784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9C5B5-7124-33A1-29D0-725C3D05C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0FD53-6112-200A-D789-C5DDAF3F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34B0A-8EA0-DA65-C6B0-4335AA3F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8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9B99-42A2-6164-29AF-1E59874E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90340-FDAE-A3A0-494D-1B8549738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D9BC8-ADD5-9AB6-09A8-95C337DD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41ED6-4136-CE8B-686F-416745B3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D1E03-D0F5-3B7A-387E-3753782C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8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0378-355A-77E7-C030-B8D776FD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2C3F7-9023-75C6-F46A-68F0522F1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208DB-06AB-6437-51A6-7AC9A19A9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3B62-8D28-EB60-B461-54BCE58C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41B77-85AE-1D9B-9C00-B41C9A05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AFF5E-8A13-2A8B-7934-87A74E0E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4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34A2-14FA-FE76-631E-3F0BFE57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0F9EB-FAA4-6706-7241-D59E9C7E4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DA335-C528-8D1F-3777-5A328239F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F1994-DCA7-29A8-87C2-BA7CE77D6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F78E2-4917-4CDD-377C-EBC68D54F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E0039-A775-E930-6682-CC02CA31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08F29-AE1D-2001-ACB4-46592AA2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5811C-29FE-2839-821F-488985FB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3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0330-53EA-9BC8-4C7B-5793502D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5B244-D002-375D-B745-1EC61D0A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30A52-7BF2-75C0-14C8-A47A984C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6B326-4F3A-DADE-5A1E-873CCFDC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2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17D56-B2A5-9C62-2123-E52D6A59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0BD9A-225B-B0AF-AC82-84D4AE3C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12AD7-8609-4A78-AB22-E6E0BF7E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1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67BA-996D-4F51-4E79-4F2B6757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B1D7D-0385-9F9C-4234-534C6D59E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C916B-27AD-4275-30A5-0CC33EE94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768F1-7117-53B7-6DF5-C2C26EF2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E5911-57E0-443A-13EE-5DFF62481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4FE98-69ED-CBAF-DBAC-C7E41EC2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8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CCF1-4335-B261-482B-0FF3FBF0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8685D-514D-E586-3952-AB8B99A48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F64E4-19BF-95F6-86B0-2D8DA78ED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04967-2928-77C0-B8B7-1DA9D408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F24C5-87B3-443E-D620-CA60C1D1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3F866-8932-5835-43B2-9E8C43A6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1B31-3853-2AC0-62FC-04317546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A6088-8D3C-765D-E050-E6D3CCBD5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9ED6B-843B-3E9E-7BE1-19C325E8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A6DA4-E845-6842-5C0D-EAB033D7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05EE8-67F5-E305-1D15-5D57715B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8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A5AA4-405A-A465-AE6E-2FBCA0C83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45F78-95D0-3FCA-C1D6-7E54A07A7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FE44-D9BB-F14A-7E18-55893BE0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2CBF0-9171-2552-8DBD-343824A1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8726D-B22E-EB7E-BE32-DA56405C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1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3354B-2687-C80C-4199-6B31BC30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D7CB1-E7DE-B560-72F9-04AE0998A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BAC96-27E5-09B6-DB80-821C8477E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F3F29-07D8-4374-B845-57E76BBA86F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42373-B2FC-5C88-3986-4A08A754E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C0651-61D5-892D-C07C-8BD798F36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0B348-3D66-4C99-95B6-5010C75F4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2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668B78-58BD-7B32-8260-1966602D2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148145"/>
              </p:ext>
            </p:extLst>
          </p:nvPr>
        </p:nvGraphicFramePr>
        <p:xfrm>
          <a:off x="836549" y="1680083"/>
          <a:ext cx="10515600" cy="4303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35">
                  <a:extLst>
                    <a:ext uri="{9D8B030D-6E8A-4147-A177-3AD203B41FA5}">
                      <a16:colId xmlns:a16="http://schemas.microsoft.com/office/drawing/2014/main" val="1777827187"/>
                    </a:ext>
                  </a:extLst>
                </a:gridCol>
                <a:gridCol w="967486">
                  <a:extLst>
                    <a:ext uri="{9D8B030D-6E8A-4147-A177-3AD203B41FA5}">
                      <a16:colId xmlns:a16="http://schemas.microsoft.com/office/drawing/2014/main" val="2142936487"/>
                    </a:ext>
                  </a:extLst>
                </a:gridCol>
                <a:gridCol w="3523107">
                  <a:extLst>
                    <a:ext uri="{9D8B030D-6E8A-4147-A177-3AD203B41FA5}">
                      <a16:colId xmlns:a16="http://schemas.microsoft.com/office/drawing/2014/main" val="3356490730"/>
                    </a:ext>
                  </a:extLst>
                </a:gridCol>
                <a:gridCol w="2053717">
                  <a:extLst>
                    <a:ext uri="{9D8B030D-6E8A-4147-A177-3AD203B41FA5}">
                      <a16:colId xmlns:a16="http://schemas.microsoft.com/office/drawing/2014/main" val="2700010987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3743449479"/>
                    </a:ext>
                  </a:extLst>
                </a:gridCol>
                <a:gridCol w="1113536">
                  <a:extLst>
                    <a:ext uri="{9D8B030D-6E8A-4147-A177-3AD203B41FA5}">
                      <a16:colId xmlns:a16="http://schemas.microsoft.com/office/drawing/2014/main" val="3628716347"/>
                    </a:ext>
                  </a:extLst>
                </a:gridCol>
                <a:gridCol w="962914">
                  <a:extLst>
                    <a:ext uri="{9D8B030D-6E8A-4147-A177-3AD203B41FA5}">
                      <a16:colId xmlns:a16="http://schemas.microsoft.com/office/drawing/2014/main" val="2538549770"/>
                    </a:ext>
                  </a:extLst>
                </a:gridCol>
              </a:tblGrid>
              <a:tr h="363982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Metric planning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Planning signal w</a:t>
                      </a:r>
                      <a:r>
                        <a:rPr lang="en-US" sz="1100" b="1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idth c</a:t>
                      </a:r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heck neu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tral </a:t>
                      </a:r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operations model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Current status de</a:t>
                      </a:r>
                      <a:r>
                        <a:rPr lang="en-US" sz="1100" b="1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tail n</a:t>
                      </a:r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eutral terms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Value note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Target signal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Owner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057753"/>
                  </a:ext>
                </a:extLst>
              </a:tr>
              <a:tr h="831596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1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Alpha pl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anning row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Long neu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tral plan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ning p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hrase wi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th re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peated operational terms to wrap across several lines in the wide cell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Short mu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lti segme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nt not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 for ba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selin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 comparison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Stable s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cenario w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ith te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rms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100.00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08940"/>
                  </a:ext>
                </a:extLst>
              </a:tr>
              <a:tr h="695452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2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Beta pla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nning row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Capacity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planning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phras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 with s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evera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 ordinary words for wrap and splitting tests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Another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compact m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ulti s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egment b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aseli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ne note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Referenc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 bucket detail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200.00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35106"/>
                  </a:ext>
                </a:extLst>
              </a:tr>
              <a:tr h="88519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3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Gamma pl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anning row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Longer o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perationa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 plan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ning sen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tence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with repeated neutral words to exercise table cell vertical centering wrapping and run boundaries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Multi se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gment bas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eline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note wit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h suf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fix text and neutral words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Long sta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tus cell 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with n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eutral words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300.00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698819"/>
                  </a:ext>
                </a:extLst>
              </a:tr>
              <a:tr h="740918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4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Delta pl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anning row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Forecast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planning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phras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 with e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nough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length for controlled wrapping and repeated terms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Compact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note with terms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Stable c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ell value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400.00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837364"/>
                  </a:ext>
                </a:extLst>
              </a:tr>
              <a:tr h="786257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5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Epsilon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planning row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Inventor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y plannin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g phra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se with 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neutr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al words for wrapping and splitting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Two line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centered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 note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with suf</a:t>
                      </a:r>
                      <a:r>
                        <a:rPr lang="en-US" sz="1100" b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fix 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nd terms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Final va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lue note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500.00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67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698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2026-05-31T00:39:40Z</dcterms:created>
  <dcterms:modified xsi:type="dcterms:W3CDTF">2026-05-31T00:39:40Z</dcterms:modified>
</cp:coreProperties>
</file>