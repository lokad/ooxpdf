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7A33-5951-365F-5AC2-EB3E853FC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C9590-8677-A0D6-16A0-7F7723071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AA020-517E-40B7-7C83-FF9A0FC1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9248B-0886-290A-DF31-7A668B68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C2BA4-D8C2-F280-8991-BDDC38B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7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855E-6DC8-C186-34A0-045D1BA1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F8AD3-1C90-9359-6B58-672EFD336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23198-D58A-1A36-D522-B2BD4B3C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37F79-B5C9-F9F9-E5CA-ECC1FA3E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F21E4-7748-9AF9-B5F7-B6404657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0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3F184-E698-6589-EFF6-6FA14A1D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F05F1-F1F6-3BBE-F79F-13D80E425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0AAD9-28B2-BF66-BF37-FACE4C7A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C3F92-7A45-B8A2-73A8-791B95B04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21032-CA2A-BAD4-F2F0-EEB2422A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0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110E-93A2-F089-1AA5-586E9141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E5EC-D8D3-A240-1110-EACBE93FA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50C96-CDE3-5794-8DD3-6CDBBFFE7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D7A5F-77FB-B0F2-97FC-49F8DFE5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FC650-ACC3-AED1-5052-A4BB9919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05E7D-7C75-02EB-0BFC-564BB3BF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2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B6DD-CE24-63A0-F6E3-BEC2A871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5FAC-6CD2-AAC8-DE80-DCE6CA3A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85A89-8271-1199-95B1-4B1147A1F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B67D1E-97D0-1DB8-AEB5-454E61954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5DC39-17E2-E253-3F42-80354E93A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A6F13D-DBB9-FD91-4A7C-6A571E830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7229CE-EF44-A882-CD7D-9C546108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61A049-4FD9-F1F4-EEF5-668DD830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0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259B-2A4A-56CE-02FC-6BE65DB0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38EC5-C411-3012-F73F-180D9202F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F2C09-DBC9-356E-A0CC-CD465008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C3A5A-34BB-0706-A4FA-5E60BB73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5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931F3-13DF-777F-4730-3F3F87E8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41F61D-DB25-BD98-929F-3FCFA02A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4AAA7-FC17-616B-ED0C-DFCD1F24A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2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400D-8A7B-B01B-60DA-F03EAB74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C842-1132-47A0-3C6D-6A094EE5B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9B84-1C1A-A22A-E05F-460A93E81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01C66-61BC-E61A-502F-684B2BD6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6D761-7BEE-B6A9-DD1C-0347A425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6E0CD-6CBE-4989-6575-A1D1B4FA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6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A29B-9FF5-48B1-04EC-7EFD9A44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24DF1-EB73-9445-71BB-F63CA1382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C5BA4-EA78-D292-0FAC-6B5300A3F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67797-5643-FC3E-0CB5-30CBC0B0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7BFF2-7A11-C8FF-B8C4-1E25AC3AC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05FF7-E156-C150-E002-A6DF37C7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93AF-1226-CCC1-3FFF-A1BE30E5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22ECE-48FB-2C87-7B96-2D25E8218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951EF-E5DB-C723-6752-DAD26597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53A74-4FE0-E099-DFE0-4AED09E2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244D-91ED-24A0-5EE3-ED7C04EE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9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FB3C9-0AF1-CCD3-D856-DA3B56F2D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2014F-7EF4-4927-604F-95203CA50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1A716-F517-2FBF-1FFD-D1F0E740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D15A8-44CA-7112-27BB-071CCA19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91530-3147-918D-69F3-AF0B8562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9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04598-6241-E867-237E-2FB6F896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00B79-F614-E23F-F4FB-FF765A9A6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5DC52-2791-CCCF-9243-B966FDB58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7D72E-6774-45AF-9332-114ABBB055B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9A18B-B3B7-EFF4-C3D1-ABB7F455D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99CF7-CA46-5EA8-B63C-E29AB6EB6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EDA68-A01C-4418-8D6E-18888AAB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8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DE3F5B-ACD9-2AB3-8600-8A3BF0B80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916844"/>
              </p:ext>
            </p:extLst>
          </p:nvPr>
        </p:nvGraphicFramePr>
        <p:xfrm>
          <a:off x="836549" y="1680083"/>
          <a:ext cx="10515600" cy="4303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35">
                  <a:extLst>
                    <a:ext uri="{9D8B030D-6E8A-4147-A177-3AD203B41FA5}">
                      <a16:colId xmlns:a16="http://schemas.microsoft.com/office/drawing/2014/main" val="4157246591"/>
                    </a:ext>
                  </a:extLst>
                </a:gridCol>
                <a:gridCol w="967486">
                  <a:extLst>
                    <a:ext uri="{9D8B030D-6E8A-4147-A177-3AD203B41FA5}">
                      <a16:colId xmlns:a16="http://schemas.microsoft.com/office/drawing/2014/main" val="3903222128"/>
                    </a:ext>
                  </a:extLst>
                </a:gridCol>
                <a:gridCol w="3523107">
                  <a:extLst>
                    <a:ext uri="{9D8B030D-6E8A-4147-A177-3AD203B41FA5}">
                      <a16:colId xmlns:a16="http://schemas.microsoft.com/office/drawing/2014/main" val="4099328243"/>
                    </a:ext>
                  </a:extLst>
                </a:gridCol>
                <a:gridCol w="2053717">
                  <a:extLst>
                    <a:ext uri="{9D8B030D-6E8A-4147-A177-3AD203B41FA5}">
                      <a16:colId xmlns:a16="http://schemas.microsoft.com/office/drawing/2014/main" val="1894941558"/>
                    </a:ext>
                  </a:extLst>
                </a:gridCol>
                <a:gridCol w="1487805">
                  <a:extLst>
                    <a:ext uri="{9D8B030D-6E8A-4147-A177-3AD203B41FA5}">
                      <a16:colId xmlns:a16="http://schemas.microsoft.com/office/drawing/2014/main" val="3319747892"/>
                    </a:ext>
                  </a:extLst>
                </a:gridCol>
                <a:gridCol w="1113536">
                  <a:extLst>
                    <a:ext uri="{9D8B030D-6E8A-4147-A177-3AD203B41FA5}">
                      <a16:colId xmlns:a16="http://schemas.microsoft.com/office/drawing/2014/main" val="522217783"/>
                    </a:ext>
                  </a:extLst>
                </a:gridCol>
                <a:gridCol w="962914">
                  <a:extLst>
                    <a:ext uri="{9D8B030D-6E8A-4147-A177-3AD203B41FA5}">
                      <a16:colId xmlns:a16="http://schemas.microsoft.com/office/drawing/2014/main" val="1157118071"/>
                    </a:ext>
                  </a:extLst>
                </a:gridCol>
              </a:tblGrid>
              <a:tr h="3639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Metric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Planning signal width check with neutral words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Current status detail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Value note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Target signal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Owner</a:t>
                      </a:r>
                    </a:p>
                  </a:txBody>
                  <a:tcPr marL="15938" marR="15938" marT="7963" marB="7963" anchor="ctr">
                    <a:solidFill>
                      <a:srgbClr val="E6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843409"/>
                  </a:ext>
                </a:extLst>
              </a:tr>
              <a:tr h="831596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Alpha row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Long neu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tral plan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ning p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hrase with enough repeated terms to wrap across several lines in the wide cell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Short mu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lti run n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ote fo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r baseline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Stable scenario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One line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970889"/>
                  </a:ext>
                </a:extLst>
              </a:tr>
              <a:tr h="69545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Beta row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Capacity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 planning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 phras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e with several ordinary words for wrap testing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Another 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compact m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ulti r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un baseline note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Reference bucket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One line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585275"/>
                  </a:ext>
                </a:extLst>
              </a:tr>
              <a:tr h="88519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Gamma row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Longer o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perationa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l plan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ning sentence with repeated neutral words to exercise table cell vertical centering and wrapping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Multi se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gment bas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eline 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note with suffix text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Long status cell with neutral words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Short note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78171"/>
                  </a:ext>
                </a:extLst>
              </a:tr>
              <a:tr h="740918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Delta row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Forecast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 planning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 phras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e with enough length for controlled wrapping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Compact note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Stable cell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One line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50814"/>
                  </a:ext>
                </a:extLst>
              </a:tr>
              <a:tr h="786257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Epsilon row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Inventor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y plannin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g phra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se with neutral words for wrapping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Two line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 centered</a:t>
                      </a:r>
                      <a:r>
                        <a:rPr lang="en-US" sz="1100" i="1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 note 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with suffix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Final value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One line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E1E1E"/>
                          </a:solidFill>
                          <a:latin typeface="Aptos" panose="020B0004020202020204" pitchFamily="34" charset="0"/>
                        </a:rPr>
                        <a:t>x</a:t>
                      </a:r>
                    </a:p>
                  </a:txBody>
                  <a:tcPr marL="15938" marR="15938" marT="7963" marB="7963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42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967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2026-05-31T00:30:25Z</dcterms:created>
  <dcterms:modified xsi:type="dcterms:W3CDTF">2026-05-31T00:30:25Z</dcterms:modified>
</cp:coreProperties>
</file>